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大家好，欢迎各位。今天我将向大家介绍我们的项目——NexusBot，一个致力于打造具备完整商业化落地能力的新一代智能机器人系统。我们相信，NexusBot将为人形机器人产业带来革命性的变革。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NexusBot的核心定位是一个面向未来产业的全栈式具身智能系统平台。我们的核心优势在于软硬件一体化自主研发、模块化可重构设计、端云协同混合架构以及零代码快速部署。我们的目标市场涵盖工业制造、医疗健康、公共服务和特种作业四大领域。目前，项目已完成原型验证，正进入小批量试产阶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当前人形机器人行业正面临六大核心痛点：场景适应性差、响应延迟高、人机协作不安全、部署门槛高、维护成本高以及严重的技术依赖。这些痛点严重制约了行业的发展和商业化落地。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针对这些痛点，我们提出了六大核心创新亮点。从模块化可重构设计到端云协同架构，从柔性力控交互到零代码部署，再到集群协同进化和全生命周期成本优化，我们为每个痛点都提供了切实可行的解决方案。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术核心是四层架构。底层是多模态融合感知层，确保机器人能看懂世界；中间是具身大模型决策层，让机器人会思考；再往上是高精度运动控制层，让机器人能精确行动；最顶层是云端协同平台层，为大规模部署和持续进化提供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数据是最好的证明。在核心技术自主化率、自由度、力控精度等关键指标上，我们全面领先于行业平均水平。特别是我们的投资回报周期仅为1.8年，极具商业吸引力。我们拥有127项授权发明专利，确保了技术的自主可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NexusBot能为产业带来四大核心价值：首先，显著提升生产效率；其次，保障高危环境下的作业安全；第三，有效缓解日益严峻的用工短缺问题；最后，也是最重要的，我们通过自主可控的技术，帮助国家掌握产业战略主动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加速技术迭代和产品落地，我们构建了科研与产业一体化的实验仿真平台。这个平台包括高保真物理仿真、产业级算法框架和自动化测试验证三大模块，能够将算法验证效率提升10倍，大幅缩短技术转化周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我们的商业化路径清晰而坚定。今年第三季度，我们将完成小批量试产并落地首批示范项目。到2027年实现量产，2028年成为行业头部，并最终在2030年，构建起一个全球领先的具身智能产业生态。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为实现上述规划，我们计划融资5000万元人民币，出让15%的股权。这笔资金将主要用于生产线建设、技术研发、市场拓展和补充流动资金，为NexusBot的快速发展提供充足动力。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项目的成功离不开一个强大的团队。我们的核心管理层在技术、产业和运营方面都拥有深厚的积累。我们的研发团队汇聚了来自顶尖院校的优秀人才，是项目成功的坚实保障。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我的介绍到此结束。如果您对我们的项目感兴趣，欢迎通过屏幕上的联系方式与我们取得联系。感谢各位的聆听！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11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svg"/><Relationship Id="rId5" Type="http://schemas.openxmlformats.org/officeDocument/2006/relationships/image" Target="../media/image8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16.svg"/><Relationship Id="rId4" Type="http://schemas.openxmlformats.org/officeDocument/2006/relationships/image" Target="../media/image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905000" y="-1905000"/>
            <a:ext cx="6350000" cy="635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0" y="3810000"/>
            <a:ext cx="7620000" cy="7620000"/>
          </a:xfrm>
          <a:prstGeom prst="ellipse">
            <a:avLst/>
          </a:prstGeom>
          <a:solidFill>
            <a:srgbClr val="38BDF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pattFill prst="lgGrid">
            <a:fgClr>
              <a:srgbClr val="FFFFFF">
                <a:alpha val="3137"/>
              </a:srgbClr>
            </a:fgClr>
            <a:bgClr>
              <a:srgbClr val="0F172A">
                <a:alpha val="0"/>
              </a:srgbClr>
            </a:bgClr>
          </a:patt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08000" y="1905000"/>
            <a:ext cx="11176000" cy="30480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2667000"/>
            <a:ext cx="1117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NexusBot</a:t>
            </a:r>
            <a:r>
              <a:rPr lang="en-US" sz="4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人形机器人・具身智能创新设计产业级系统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11459">
            <a:off x="4191011" y="4311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8BDF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508000" y="4699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2400" b="0" i="0" u="none" strike="noStrike" dirty="0" err="1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打造具备完整商业化落地能力的新一代智能机器人系统</a:t>
            </a:r>
            <a:endParaRPr lang="en-US" sz="1100" dirty="0"/>
          </a:p>
        </p:txBody>
      </p:sp>
      <p:cxnSp>
        <p:nvCxnSpPr>
          <p:cNvPr id="9" name="Connector 9"/>
          <p:cNvCxnSpPr/>
          <p:nvPr/>
        </p:nvCxnSpPr>
        <p:spPr>
          <a:xfrm rot="-3906">
            <a:off x="508004" y="6089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4A3B8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0" y="62865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2026年6月 | 产业级路演</a:t>
            </a:r>
            <a:endParaRPr lang="en-US" sz="11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BB236A-D6CC-C151-9C27-5FA467F75BF0}"/>
              </a:ext>
            </a:extLst>
          </p:cNvPr>
          <p:cNvSpPr txBox="1"/>
          <p:nvPr/>
        </p:nvSpPr>
        <p:spPr>
          <a:xfrm>
            <a:off x="10100336" y="5661222"/>
            <a:ext cx="2749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陈子扬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810000" cy="3810000"/>
          </a:xfrm>
          <a:prstGeom prst="ellipse">
            <a:avLst/>
          </a:prstGeom>
          <a:solidFill>
            <a:srgbClr val="38BDF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1397000"/>
            <a:ext cx="76200" cy="8890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1498600"/>
            <a:ext cx="10668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面向未来产业的全栈式具身智能系统平台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2794000"/>
            <a:ext cx="5524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2984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921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软硬件一体化自主研发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594">
            <a:off x="698508" y="3549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98500" y="3683000"/>
            <a:ext cx="514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深度整合底层硬件驱动与上层算法模型，完全掌握核心技术壁垒，实现从感知到决策的端到端全链路优化。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2794000"/>
            <a:ext cx="5524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29845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12000" y="2921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模块化可重构设计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8594">
            <a:off x="6413508" y="3549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413500" y="3683000"/>
            <a:ext cx="514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采用标准化接口与组件化架构，支持功能模块灵活插拔，可快速适配工业、医疗等不同垂直场景，大幅降低部署与迭代成本。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08000" y="4572000"/>
            <a:ext cx="5524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" y="47625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4699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端云协同混合架构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594">
            <a:off x="698508" y="5327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98500" y="5461000"/>
            <a:ext cx="514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边缘端保障毫秒级实时响应，云端提供大规模数据训练与全局认知能力，兼顾系统的实时性与复杂任务的处理深度。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4572000"/>
            <a:ext cx="5524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47625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46990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零代码部署与场景落地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8594">
            <a:off x="6413508" y="5327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413500" y="5461000"/>
            <a:ext cx="514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降低行业使用门槛，覆盖工业制造、医疗健康等核心领域；目前已完成原型验证，正式迈入小批量试产阶段，加速商业化闭环。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6350000" cy="6350000"/>
          </a:xfrm>
          <a:prstGeom prst="ellipse">
            <a:avLst/>
          </a:prstGeom>
          <a:solidFill>
            <a:srgbClr val="38BDF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38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行业痛点分析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1397000"/>
            <a:ext cx="3632200" cy="21590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1651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5875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场景适应性差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3428">
            <a:off x="571512" y="2343150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571500" y="2540000"/>
            <a:ext cx="3251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多为单一任务设计，场景切换成本极高，程序调试复杂，无法灵活满足工业现场多样化、碎片化的作业需求。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279900" y="1397000"/>
            <a:ext cx="3632200" cy="21590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0400" y="1651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168900" y="15875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响应延迟高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428">
            <a:off x="4470412" y="2343150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470400" y="2540000"/>
            <a:ext cx="3251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依赖纯云端架构处理数据，网络传输与计算存在明显滞后，实时性不足，难以胜任精密装配等高精度动态作业。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51800" y="1397000"/>
            <a:ext cx="3632200" cy="21590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42300" y="1651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940800" y="15875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人机协作不安全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3428">
            <a:off x="8242312" y="2343150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242300" y="2540000"/>
            <a:ext cx="3251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缺乏柔性力反馈控制技术，机器人运动轨迹不可控，必须设置物理安全围栏进行隔离，极大限制了人机协同场景。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81000" y="3937000"/>
            <a:ext cx="3632200" cy="21590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00" y="4191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270000" y="41275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部署门槛高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3428">
            <a:off x="571512" y="4883150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571500" y="5080000"/>
            <a:ext cx="3251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系统调试需要专业算法工程师进行复杂编程，操作流程繁琐，一线生产工人难以快速掌握，现场部署周期漫长。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279900" y="3937000"/>
            <a:ext cx="3632200" cy="21590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70400" y="4191000"/>
            <a:ext cx="508000" cy="508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5168900" y="41275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维护成本高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3428">
            <a:off x="4470412" y="4883150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4470400" y="5080000"/>
            <a:ext cx="3251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关键零部件多为定制化设计，供应链单一，损坏后更换成本高昂，且设备故障率较高，导致整体投资回报周期拉长。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051800" y="3937000"/>
            <a:ext cx="3632200" cy="21590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42300" y="4191000"/>
            <a:ext cx="508000" cy="5080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8940800" y="4127500"/>
            <a:ext cx="2603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技术依赖严重</a:t>
            </a:r>
            <a:endParaRPr lang="en-US" sz="1100"/>
          </a:p>
        </p:txBody>
      </p:sp>
      <p:cxnSp>
        <p:nvCxnSpPr>
          <p:cNvPr id="33" name="Connector 33"/>
          <p:cNvCxnSpPr/>
          <p:nvPr/>
        </p:nvCxnSpPr>
        <p:spPr>
          <a:xfrm rot="-13428">
            <a:off x="8242312" y="4883150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AutoShape 34"/>
          <p:cNvSpPr/>
          <p:nvPr/>
        </p:nvSpPr>
        <p:spPr>
          <a:xfrm>
            <a:off x="8242300" y="5080000"/>
            <a:ext cx="3251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伺服电机、精密减速器及底层控制算法多依赖国外进口，核心技术受制于人，存在严重的产业链断供与安全风险。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8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解决方案：六大核心创新亮点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08000" y="1524000"/>
            <a:ext cx="3556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1778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93800" y="1752600"/>
            <a:ext cx="2743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模块化可重构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3861">
            <a:off x="711213" y="23431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711200" y="2540000"/>
            <a:ext cx="31496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场景切换耗时小于15分钟，实现一机多用，无需为不同场景单独购置设备，大幅降低多场景部署与设备闲置成本。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1524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318000" y="1524000"/>
            <a:ext cx="3556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1200" y="1778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003800" y="1752600"/>
            <a:ext cx="2743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端云协同混合架构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861">
            <a:off x="4521213" y="23431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21200" y="2540000"/>
            <a:ext cx="31496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端侧响应延迟低于200ms，断网可独立运行，同时云端提供强大认知与模型训练能力，兼顾实时控制与智能进化需求。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1524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128000" y="1524000"/>
            <a:ext cx="3556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1200" y="1778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813800" y="1752600"/>
            <a:ext cx="2743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柔性力控交互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3861">
            <a:off x="8331213" y="23431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331200" y="2540000"/>
            <a:ext cx="31496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力控精度达到±0.1N，能感知接触力并实时调整，实现人机近距离、无冲击的安全协作，现场无需额外设置安全围栏。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508000" y="4064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508000" y="4064000"/>
            <a:ext cx="3556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200" y="4318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193800" y="4292600"/>
            <a:ext cx="2743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零代码快速部署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3861">
            <a:off x="711213" y="48831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11200" y="5080000"/>
            <a:ext cx="31496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新任务配置时间压缩在1小时内，采用可视化拖拽配置界面，一线工人经过简单培训即可独立完成任务部署与调试。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318000" y="4064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4318000" y="4064000"/>
            <a:ext cx="3556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21200" y="43180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5003800" y="4292600"/>
            <a:ext cx="2743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集群协同进化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13861">
            <a:off x="4521213" y="48831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4521200" y="5080000"/>
            <a:ext cx="31496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知识同步延迟小于100ms，实现“单台学习、全体掌握”的集群能力共享，让系统整体智能化水平实现指数级提升。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128000" y="4064000"/>
            <a:ext cx="3556000" cy="22225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128000" y="4064000"/>
            <a:ext cx="3556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1200" y="4318000"/>
            <a:ext cx="355600" cy="3556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8813800" y="4292600"/>
            <a:ext cx="2743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全生命周期成本优化</a:t>
            </a:r>
            <a:endParaRPr lang="en-US" sz="1100"/>
          </a:p>
        </p:txBody>
      </p:sp>
      <p:cxnSp>
        <p:nvCxnSpPr>
          <p:cNvPr id="37" name="Connector 37"/>
          <p:cNvCxnSpPr/>
          <p:nvPr/>
        </p:nvCxnSpPr>
        <p:spPr>
          <a:xfrm rot="-13861">
            <a:off x="8331213" y="48831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8" name="AutoShape 38"/>
          <p:cNvSpPr/>
          <p:nvPr/>
        </p:nvSpPr>
        <p:spPr>
          <a:xfrm>
            <a:off x="8331200" y="5080000"/>
            <a:ext cx="31496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采用标准化、通用化零部件设计，设备维护成本直接降低60%，同时通过效率提升，将投资回报周期大幅缩短至1.8年。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55000" y="4445000"/>
            <a:ext cx="5080000" cy="381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-635000"/>
            <a:ext cx="3810000" cy="3810000"/>
          </a:xfrm>
          <a:prstGeom prst="ellipse">
            <a:avLst/>
          </a:prstGeom>
          <a:solidFill>
            <a:srgbClr val="38BDF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38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四层核心技术架构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11176000" cy="11684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1524000"/>
            <a:ext cx="76200" cy="11684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1727200"/>
            <a:ext cx="762000" cy="762000"/>
          </a:xfrm>
          <a:prstGeom prst="rect">
            <a:avLst/>
          </a:prstGeom>
        </p:spPr>
      </p:pic>
      <p:cxnSp>
        <p:nvCxnSpPr>
          <p:cNvPr id="8" name="Connector 8"/>
          <p:cNvCxnSpPr/>
          <p:nvPr/>
        </p:nvCxnSpPr>
        <p:spPr>
          <a:xfrm rot="5352256">
            <a:off x="1574800" y="2101894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2286000" y="1651000"/>
            <a:ext cx="9017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01 感知层 | Perception Layer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融合12种异构传感器实现360°无死角环境感知，集成激光雷达、视觉相机与毫米波雷达的多模态数据融合技术，具备极强抗干扰能力，可稳定适配高温、高湿、粉尘、油污等各类恶劣工业作业场景。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2921000"/>
            <a:ext cx="11176000" cy="11684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08000" y="2921000"/>
            <a:ext cx="76200" cy="1168400"/>
          </a:xfrm>
          <a:prstGeom prst="roundRect">
            <a:avLst>
              <a:gd name="adj" fmla="val 0"/>
            </a:avLst>
          </a:prstGeom>
          <a:solidFill>
            <a:srgbClr val="38BDF8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3124200"/>
            <a:ext cx="762000" cy="762000"/>
          </a:xfrm>
          <a:prstGeom prst="rect">
            <a:avLst/>
          </a:prstGeom>
        </p:spPr>
      </p:pic>
      <p:cxnSp>
        <p:nvCxnSpPr>
          <p:cNvPr id="13" name="Connector 13"/>
          <p:cNvCxnSpPr/>
          <p:nvPr/>
        </p:nvCxnSpPr>
        <p:spPr>
          <a:xfrm rot="5352256">
            <a:off x="1574800" y="3498894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2286000" y="3048000"/>
            <a:ext cx="9017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02 决策层 | Decision Layer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依托千亿参数具身大模型基座，赋予系统深度理解自然语言指令的能力，可自主拆解复杂任务目标、规划最优执行路径，实现从被动“执行预设指令”到主动“理解用户意图”的智能化跨越。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08000" y="4191000"/>
            <a:ext cx="11176000" cy="11684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08000" y="4191000"/>
            <a:ext cx="76200" cy="1168400"/>
          </a:xfrm>
          <a:prstGeom prst="roundRect">
            <a:avLst>
              <a:gd name="adj" fmla="val 0"/>
            </a:avLst>
          </a:prstGeom>
          <a:solidFill>
            <a:srgbClr val="38BDF8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4394200"/>
            <a:ext cx="762000" cy="762000"/>
          </a:xfrm>
          <a:prstGeom prst="rect">
            <a:avLst/>
          </a:prstGeom>
        </p:spPr>
      </p:pic>
      <p:cxnSp>
        <p:nvCxnSpPr>
          <p:cNvPr id="18" name="Connector 18"/>
          <p:cNvCxnSpPr/>
          <p:nvPr/>
        </p:nvCxnSpPr>
        <p:spPr>
          <a:xfrm rot="5352256">
            <a:off x="1574800" y="4768894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2286000" y="4318000"/>
            <a:ext cx="9017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03 控制层 | Control Layer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构建52个自由度的全维度柔顺控制系统，通过高精度伺服驱动与实时运动规划算法，实现微米级精准执行，完美适配精密零件装配、柔性抓取以及崎岖复杂地形的自适应行走等多样化作业需求。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508000" y="5461000"/>
            <a:ext cx="11176000" cy="11684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508000" y="5461000"/>
            <a:ext cx="76200" cy="1168400"/>
          </a:xfrm>
          <a:prstGeom prst="roundRect">
            <a:avLst>
              <a:gd name="adj" fmla="val 0"/>
            </a:avLst>
          </a:prstGeom>
          <a:solidFill>
            <a:srgbClr val="38BDF8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5664200"/>
            <a:ext cx="762000" cy="762000"/>
          </a:xfrm>
          <a:prstGeom prst="rect">
            <a:avLst/>
          </a:prstGeom>
        </p:spPr>
      </p:pic>
      <p:cxnSp>
        <p:nvCxnSpPr>
          <p:cNvPr id="23" name="Connector 23"/>
          <p:cNvCxnSpPr/>
          <p:nvPr/>
        </p:nvCxnSpPr>
        <p:spPr>
          <a:xfrm rot="5352256">
            <a:off x="1574800" y="6038894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2286000" y="5588000"/>
            <a:ext cx="9017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04 平台层 | Platform Layer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支持百万级异构智能设备的云端统一接入与管理，提供从设备状态监控、多源数据实时采集、模型持续迭代训练到远程智能运维的一站式全链路服务，为规模化部署与系统持续进化提供坚实底座。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0" y="-1270000"/>
            <a:ext cx="6350000" cy="635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5080000" cy="5080000"/>
          </a:xfrm>
          <a:prstGeom prst="ellipse">
            <a:avLst/>
          </a:prstGeom>
          <a:solidFill>
            <a:srgbClr val="38BDF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38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关键技术指标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38BDF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35000" y="1498600"/>
            <a:ext cx="406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核心技术指标项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207000" y="1498600"/>
            <a:ext cx="279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实测/达成数值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55000" y="1498600"/>
            <a:ext cx="317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行业平均水平对比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3906">
            <a:off x="508004" y="2152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508000" y="2286000"/>
            <a:ext cx="11176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08000" y="2286000"/>
            <a:ext cx="50800" cy="6985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98500" y="2387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核心技术自主化率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207000" y="2349500"/>
            <a:ext cx="279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96%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255000" y="2413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行业平均水平为 45%，实现技术完全自主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08000" y="3175000"/>
            <a:ext cx="11176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08000" y="3175000"/>
            <a:ext cx="50800" cy="698500"/>
          </a:xfrm>
          <a:prstGeom prst="roundRect">
            <a:avLst>
              <a:gd name="adj" fmla="val 0"/>
            </a:avLst>
          </a:prstGeom>
          <a:solidFill>
            <a:srgbClr val="38BDF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98500" y="3276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机器人全身自由度配置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207000" y="3238500"/>
            <a:ext cx="279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52 个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255000" y="3302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行业平均 35 个，动作精细度与灵活性大幅领先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8000" y="4064000"/>
            <a:ext cx="5524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508000" y="4064000"/>
            <a:ext cx="50800" cy="1143000"/>
          </a:xfrm>
          <a:prstGeom prst="roundRect">
            <a:avLst>
              <a:gd name="adj" fmla="val 0"/>
            </a:avLst>
          </a:prstGeom>
          <a:solidFill>
            <a:srgbClr val="38BDF8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98500" y="4191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力控精度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行业均值 0.5N，精准感知细微力反馈</a:t>
            </a:r>
          </a:p>
        </p:txBody>
      </p:sp>
      <p:cxnSp>
        <p:nvCxnSpPr>
          <p:cNvPr id="23" name="Connector 23"/>
          <p:cNvCxnSpPr/>
          <p:nvPr/>
        </p:nvCxnSpPr>
        <p:spPr>
          <a:xfrm rot="5347115">
            <a:off x="2762250" y="4660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3302000" y="4254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±0.1 N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159500" y="4064000"/>
            <a:ext cx="5524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159500" y="4064000"/>
            <a:ext cx="50800" cy="1143000"/>
          </a:xfrm>
          <a:prstGeom prst="roundRect">
            <a:avLst>
              <a:gd name="adj" fmla="val 0"/>
            </a:avLst>
          </a:prstGeom>
          <a:solidFill>
            <a:srgbClr val="38BDF8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350000" y="4191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系统响应延迟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行业均值 500ms，毫秒级响应保障实时性</a:t>
            </a:r>
          </a:p>
        </p:txBody>
      </p:sp>
      <p:cxnSp>
        <p:nvCxnSpPr>
          <p:cNvPr id="28" name="Connector 28"/>
          <p:cNvCxnSpPr/>
          <p:nvPr/>
        </p:nvCxnSpPr>
        <p:spPr>
          <a:xfrm rot="5347115">
            <a:off x="8413750" y="4660949"/>
            <a:ext cx="82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8953500" y="42545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&lt; 200 ms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3906">
            <a:off x="508004" y="5454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508000" y="5651500"/>
            <a:ext cx="5524500" cy="10160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5778500"/>
            <a:ext cx="457200" cy="4572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1397000" y="5715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商业价值突出：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投资回报周期仅 1.8 年（行业 3-5 年），累计稳定运行超 15000 小时，大幅降低落地成本。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159500" y="5651500"/>
            <a:ext cx="5524500" cy="10160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5778500"/>
            <a:ext cx="457200" cy="4572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7048500" y="57150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知识产权壁垒：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已获 127 项授权发明专利，核心技术 100% 自主可控，成功打破国外长期技术垄断格局。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0" y="-2540000"/>
            <a:ext cx="7620000" cy="762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905000" y="3810000"/>
            <a:ext cx="6350000" cy="6350000"/>
          </a:xfrm>
          <a:prstGeom prst="ellipse">
            <a:avLst/>
          </a:prstGeom>
          <a:solidFill>
            <a:srgbClr val="38BDF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35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四大产业级应用价值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1460500"/>
            <a:ext cx="76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2286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08000" y="2286000"/>
            <a:ext cx="26035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667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62000" y="3556000"/>
            <a:ext cx="222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提升生产效率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20834">
            <a:off x="762019" y="4311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62000" y="45720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替代3-5名工人，生产效率提升300%，同时将产品不良率大幅降低85%，实现降本增效双重突破。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29000" y="2286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429000" y="2286000"/>
            <a:ext cx="26035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3000" y="2667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683000" y="3556000"/>
            <a:ext cx="222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保障作业安全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20834">
            <a:off x="3683019" y="4311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3683000" y="45720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在高危、恶劣环境中替代人工作业，从根本上消除安全生产事故隐患，筑牢人员与生产的安全防线。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2286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350000" y="2286000"/>
            <a:ext cx="26035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6670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604000" y="3556000"/>
            <a:ext cx="222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缓解用工短缺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0834">
            <a:off x="6604019" y="4311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604000" y="45720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有效应对人口老龄化趋势，精准填补制造业、服务业等领域的结构性用工缺口，保障产业持续稳定运转。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207500" y="2286000"/>
            <a:ext cx="2603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207500" y="2286000"/>
            <a:ext cx="26035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2667000"/>
            <a:ext cx="609600" cy="609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461500" y="3556000"/>
            <a:ext cx="222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掌握战略主动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20834">
            <a:off x="9461519" y="43116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9461500" y="4572000"/>
            <a:ext cx="2222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打破国外核心技术垄断，实现关键环节自主可控，切实保障国家产业链与供应链的安全稳定和战略主动权。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0" y="-1270000"/>
            <a:ext cx="6350000" cy="635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3810000"/>
            <a:ext cx="5080000" cy="5080000"/>
          </a:xfrm>
          <a:prstGeom prst="ellipse">
            <a:avLst/>
          </a:prstGeom>
          <a:solidFill>
            <a:srgbClr val="38BDF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科研与产业一体化实验仿真平台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1397000"/>
            <a:ext cx="1270000" cy="381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2159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08000" y="2159000"/>
            <a:ext cx="3556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476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2438400"/>
            <a:ext cx="2413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高保真物理仿真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7620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98500" y="3556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以1:1比例精准还原真实物理世界环境，消除数字孪生与现实的偏差，将核心算法的验证效率提升10倍，同时大幅降低实体研发与试错成本。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18000" y="2159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318000" y="2159000"/>
            <a:ext cx="3556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476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270500" y="2438400"/>
            <a:ext cx="2413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产业级算法框架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323">
            <a:off x="45720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08500" y="3556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内置500+成熟预训练模型与标准化算法接口，支持模型一键无缝部署到实体设备，打通仿真环境到实际产线的全链路，实现算法复用与快速迭代。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2159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1E293B">
              <a:alpha val="6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128000" y="2159000"/>
            <a:ext cx="3556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2476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080500" y="2438400"/>
            <a:ext cx="2413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自动化测试验证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323">
            <a:off x="8382013" y="329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318500" y="3556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预置1000+覆盖全场景的标准化测试用例，支持7×24小时无人值守自动化执行，从功能、性能到稳定性全方位校验，确保交付产品的高质量与高可靠性。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08000" y="56515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508000" y="5651500"/>
            <a:ext cx="76200" cy="8890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825500" y="5778500"/>
            <a:ext cx="10604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打破科研与产业的技术壁垒，大幅缩短实验室成果到产业化应用的转化周期，加速创新技术从理论验证走向市场落地，为业务增长提供持续动力。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0" y="-1905000"/>
            <a:ext cx="6350000" cy="635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905000" y="4445000"/>
            <a:ext cx="5715000" cy="5715000"/>
          </a:xfrm>
          <a:prstGeom prst="ellipse">
            <a:avLst/>
          </a:prstGeom>
          <a:solidFill>
            <a:srgbClr val="38BDF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商业化落地规划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905000"/>
            <a:ext cx="2616200" cy="3556000"/>
          </a:xfrm>
          <a:prstGeom prst="roundRect">
            <a:avLst>
              <a:gd name="adj" fmla="val 0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1905000"/>
            <a:ext cx="26162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2159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19200" y="2133600"/>
            <a:ext cx="177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2026 Q3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9756">
            <a:off x="711218" y="2851150"/>
            <a:ext cx="2209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60400" y="3111500"/>
            <a:ext cx="2311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小批量试产落地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完成核心产品小批量试制，成功落地首批3个标杆性工业示范项目，验证技术可行性与场景适配度。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378200" y="1905000"/>
            <a:ext cx="2616200" cy="3556000"/>
          </a:xfrm>
          <a:prstGeom prst="roundRect">
            <a:avLst>
              <a:gd name="adj" fmla="val 0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3378200" y="1905000"/>
            <a:ext cx="26162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81400" y="2159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89400" y="2133600"/>
            <a:ext cx="177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2027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9756">
            <a:off x="3581418" y="2851150"/>
            <a:ext cx="2209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530600" y="3111500"/>
            <a:ext cx="2311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多领域量产拓展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实现标准化量产，业务拓展至医疗、服务领域，建立规模化交付体系，年产能稳定达到500台。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248400" y="1905000"/>
            <a:ext cx="2616200" cy="3556000"/>
          </a:xfrm>
          <a:prstGeom prst="roundRect">
            <a:avLst>
              <a:gd name="adj" fmla="val 0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248400" y="1905000"/>
            <a:ext cx="26162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1600" y="2159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59600" y="2133600"/>
            <a:ext cx="177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2028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9756">
            <a:off x="6451618" y="2851150"/>
            <a:ext cx="2209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400800" y="3111500"/>
            <a:ext cx="2311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产业链整合与领跑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建成上下游完整产业链闭环，年产能提升至2000台，市场份额与技术壁垒构建完成，跻身行业头部企业。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9118600" y="1905000"/>
            <a:ext cx="2616200" cy="3556000"/>
          </a:xfrm>
          <a:prstGeom prst="roundRect">
            <a:avLst>
              <a:gd name="adj" fmla="val 0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118600" y="1905000"/>
            <a:ext cx="26162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21800" y="2159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829800" y="2133600"/>
            <a:ext cx="177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2030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9756">
            <a:off x="9321818" y="2851150"/>
            <a:ext cx="2209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271000" y="3111500"/>
            <a:ext cx="23114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全球生态构建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打造全球领先的具身智能产业生态，形成技术输出与标准制定能力，年产能突破10000台，引领行业发展方向。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508000" y="5842000"/>
            <a:ext cx="11226800" cy="711200"/>
          </a:xfrm>
          <a:prstGeom prst="roundRect">
            <a:avLst>
              <a:gd name="adj" fmla="val 0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762000" y="5943600"/>
            <a:ext cx="10718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从示范验证到规模量产，再到生态引领，我们以清晰的阶段性目标锚定商业化路径，稳步构建技术壁垒与市场优势，实现从单点突破到全局共赢的战略跃迁。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0" y="-2540000"/>
            <a:ext cx="7620000" cy="762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3810000"/>
            <a:ext cx="5080000" cy="5080000"/>
          </a:xfrm>
          <a:prstGeom prst="ellipse">
            <a:avLst/>
          </a:prstGeom>
          <a:solidFill>
            <a:srgbClr val="38BDF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融资需求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35000" y="2032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5000" y="2032000"/>
            <a:ext cx="76200" cy="20320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05000" y="2286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计划融资金额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175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5000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万元人民币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" y="4445000"/>
            <a:ext cx="5207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" y="4445000"/>
            <a:ext cx="76200" cy="2032000"/>
          </a:xfrm>
          <a:prstGeom prst="roundRect">
            <a:avLst>
              <a:gd name="adj" fmla="val 0"/>
            </a:avLst>
          </a:prstGeom>
          <a:solidFill>
            <a:srgbClr val="38BDF8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699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905000" y="4699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拟出让公司股权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461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15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% 股权比例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89889">
            <a:off x="4064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2159000"/>
            <a:ext cx="5207000" cy="4064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8" name="AutoShape 18"/>
          <p:cNvSpPr/>
          <p:nvPr/>
        </p:nvSpPr>
        <p:spPr>
          <a:xfrm>
            <a:off x="6477000" y="5842000"/>
            <a:ext cx="520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资金分配聚焦核心业务发展，以生产线建设和技术研发为核心抓手，兼顾市场拓展与资金流动性，保障项目全周期稳健推进。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4445000"/>
            <a:ext cx="5080000" cy="5080000"/>
          </a:xfrm>
          <a:prstGeom prst="ellipse">
            <a:avLst/>
          </a:prstGeom>
          <a:solidFill>
            <a:srgbClr val="38BDF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-1270000"/>
            <a:ext cx="6350000" cy="6350000"/>
          </a:xfrm>
          <a:prstGeom prst="ellipse">
            <a:avLst/>
          </a:prstGeom>
          <a:solidFill>
            <a:srgbClr val="38BDF8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核心团队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778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08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095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057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创始人 / CEO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323">
            <a:off x="7620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62000" y="3048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拥有10年机器人行业深耕经验，曾任国内头部机器人企业技术总监，主导过3款量产机器人的全流程开发，具备从技术研发到商业化落地的丰富产业化经验，为团队战略方向把控提供坚实支撑。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18000" y="1778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318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2095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07000" y="2057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首席技术官 (CTO)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323">
            <a:off x="45720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572000" y="3048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清华大学控制科学与工程博士，专注具身智能算法研究12年，在IEEE TRO等顶级期刊发表论文20余篇，拥有15项核心发明专利，带领团队攻克多项行业关键技术瓶颈，奠定技术领先优势。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1778000"/>
            <a:ext cx="3556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128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20955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017000" y="20574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首席运营官 (COO)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323">
            <a:off x="8382013" y="2787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82000" y="3048000"/>
            <a:ext cx="304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曾任上市公司运营副总裁，深耕企业管理与市场拓展领域15年，擅长搭建高效运营体系与开拓全球市场渠道，成功主导多个千万级项目的商业化落地，为团队业务规模化增长保驾护航。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08000" y="5334000"/>
            <a:ext cx="11176000" cy="1079500"/>
          </a:xfrm>
          <a:prstGeom prst="roundRect">
            <a:avLst>
              <a:gd name="adj" fmla="val 0"/>
            </a:avLst>
          </a:prstGeom>
          <a:solidFill>
            <a:srgbClr val="38BDF8">
              <a:alpha val="10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5562600"/>
            <a:ext cx="609600" cy="609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778000" y="5435600"/>
            <a:ext cx="965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研发梦之队：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研发成员均毕业于清华、北大、中科院等国内顶尖院校，涵盖机器人学、人工智能、机械工程等多个核心学科，团队平均行业从业经验达8年，是一支兼具前沿理论深度与丰富工程实践经验的高素质技术团队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38BDF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38BDF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3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联系方式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1524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5334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590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413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NexusBot 智能科技有限公司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专注于人工智能与机器人技术的创新研发与应用落地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334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7973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3683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办公地址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北京市海淀区未来产业科创园 A座 15层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2603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5016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9530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联系电话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400-888-9999</a:t>
            </a:r>
          </a:p>
        </p:txBody>
      </p:sp>
      <p:sp>
        <p:nvSpPr>
          <p:cNvPr id="15" name="AutoShape 15"/>
          <p:cNvSpPr/>
          <p:nvPr/>
        </p:nvSpPr>
        <p:spPr>
          <a:xfrm>
            <a:off x="3492500" y="4826000"/>
            <a:ext cx="2603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3000" y="5016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127500" y="49530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商务邮箱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business@nexusbot.ai</a:t>
            </a:r>
          </a:p>
        </p:txBody>
      </p:sp>
      <p:cxnSp>
        <p:nvCxnSpPr>
          <p:cNvPr id="18" name="Connector 18"/>
          <p:cNvCxnSpPr/>
          <p:nvPr/>
        </p:nvCxnSpPr>
        <p:spPr>
          <a:xfrm rot="5388145">
            <a:off x="4762500" y="4121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985000" y="2286000"/>
            <a:ext cx="4572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9000" y="2730500"/>
            <a:ext cx="1778000" cy="177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144000" y="2667000"/>
            <a:ext cx="2159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8BDF8"/>
                </a:solidFill>
                <a:latin typeface="Noto Sans SC"/>
                <a:ea typeface="Noto Sans SC"/>
                <a:cs typeface="Noto Sans SC"/>
                <a:sym typeface="Noto Sans SC"/>
              </a:rPr>
              <a:t>扫码关注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获取最新项目资料与产品动态，与我们的技术团队直接交流，开启智能科技合作新篇章。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985000" y="5461000"/>
            <a:ext cx="4572000" cy="889000"/>
          </a:xfrm>
          <a:prstGeom prst="roundRect">
            <a:avLst>
              <a:gd name="adj" fmla="val 0"/>
            </a:avLst>
          </a:prstGeom>
          <a:solidFill>
            <a:srgbClr val="38BD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112000" y="5588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期待与您携手，探索人工智能的无限可能，共创未来智慧生活。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839</Words>
  <Application>Microsoft Office PowerPoint</Application>
  <PresentationFormat>宽屏</PresentationFormat>
  <Paragraphs>160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Noto Sans SC</vt:lpstr>
      <vt:lpstr>Arial</vt:lpstr>
      <vt:lpstr>Poppins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夜溟龙</dc:creator>
  <cp:lastModifiedBy>溟龙 夜</cp:lastModifiedBy>
  <cp:revision>1</cp:revision>
  <dcterms:modified xsi:type="dcterms:W3CDTF">2026-06-15T12:51:32Z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{"Label":"1","ContentProducer":"001191110102MACQD9K64010000","ProduceID":"7651602352051375285","ReservedCode1":"","ContentPropagator":"","PropagateID":"","ReservedCode2":""}</vt:lpwstr>
  </property>
</Properties>
</file>